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latin typeface="Arial"/>
              </a:rPr>
              <a:t>平均撿完時間 (s)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平均撿完時間 (s)</c:v>
                </c:pt>
              </c:strCache>
            </c:strRef>
          </c:tx>
          <c:spPr>
            <a:solidFill>
              <a:srgbClr val="444444"/>
            </a:solidFill>
          </c:spPr>
          <c:cat>
            <c:strRef>
              <c:f>Sheet1!$A$2:$A$4</c:f>
              <c:strCache>
                <c:ptCount val="3"/>
                <c:pt idx="0">
                  <c:v>10 顆</c:v>
                </c:pt>
                <c:pt idx="1">
                  <c:v>15 顆</c:v>
                </c:pt>
                <c:pt idx="2">
                  <c:v>20 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368.7</c:v>
                </c:pt>
                <c:pt idx="1">
                  <c:v>469.9</c:v>
                </c:pt>
                <c:pt idx="2">
                  <c:v>492.3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latin typeface="Arial"/>
              </a:rPr>
              <a:t>里程計最終偏移 (m)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里程計最終偏移 (m)</c:v>
                </c:pt>
              </c:strCache>
            </c:strRef>
          </c:tx>
          <c:spPr>
            <a:solidFill>
              <a:srgbClr val="444444"/>
            </a:solidFill>
          </c:spPr>
          <c:cat>
            <c:strRef>
              <c:f>Sheet1!$A$2:$A$4</c:f>
              <c:strCache>
                <c:ptCount val="3"/>
                <c:pt idx="0">
                  <c:v>10 顆</c:v>
                </c:pt>
                <c:pt idx="1">
                  <c:v>15 顆</c:v>
                </c:pt>
                <c:pt idx="2">
                  <c:v>20 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0.107</c:v>
                </c:pt>
                <c:pt idx="1">
                  <c:v>0.08</c:v>
                </c:pt>
                <c:pt idx="2">
                  <c:v>0.806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「2×0.8×R×sinθ」這個寫法的原始論文沒找到 (可能是崑山科大的兩篇網球撿球車碩論)；可引用的依據見 論文文獻/README.md：Cabreira 2019 §2.2 (格子大小正比於相機 footprint，解析度由重疊率決定)、Di Franco &amp; Buttazzo 2016 (條帶間距 = footprint × (1−overlap))。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000000"/>
                </a:solidFill>
                <a:latin typeface="Arial"/>
              </a:rPr>
              <a:t>撿球機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9/15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7/8 至今的進度總覽 (模擬端)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定位方案：光達 + AMCL 地圖 → 輪速編碼器 + 陀螺儀里程計 (教授建議；學長的光達是舊型室內用)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弓字形巡邏 + 追球狀態機：格邊長由相機辨識距離與視角決定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里程計誤差消除：找出 4 個疊加的原因，位置誤差 1.1 m → 0.03 m，航向 11° → 0.2°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陀螺儀取樣：模擬 50 Hz → 1000 Hz 的原因，以及與現實 50 Hz 的差別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撿球機構整合：滾輪真的把球拋進後車廂 (不再用「碰到就消除」)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場地：改成開放式網球場 (無牆) + 真實尺寸網子 (擋視線、不可通過)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實驗數據：隨機 10 / 15 / 20 顆球各 5 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為什麼從光達 + AMCL 改成陀螺儀里程計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7/8 的方案 C：先驗地圖 + AMCL 動態導航 + Nav2 (Smac2D + DWB)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改變原因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    – 教授建議：網球場是開放、幾乎沒有特徵的空間，AMCL 靠雷射特徵比對校正，在空曠場地效果有限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    – 學長留下的 RPLIDAR A2M8 是室內用舊型光達，戶外陽光與 12 m 級的場地尺度不適用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    – 實體車本來就有馬達編碼器 + IMU (BNO080)，不用再多一顆感測器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新方案：航位推算 (dead reckoning)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    – 前進速度 = 輪半徑 × 左右輪角速度平均 (編碼器)；航向 = 陀螺儀三軸角速度積分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    – 位置 x, y 用當下航向積分；不用 /odom、不用光達、不用地圖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    – 模擬優勢：Gazebo 可以直接讀真實位置，拿來跟里程計比對、量化誤差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弓字形巡邏 + 追球狀態機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2062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PATROL：沿格子中心點走弓字形 (蛇形)，0.4 m/s，到點容差 0.3 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ALIGN：相機看到球 → 原地轉，P 控制把球對到畫面中央 (±5°)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APPROACH：0.3 m/s 前進，邊走邊用像素誤差 PID 修正方向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BLIND_DASH：球進相機死角後盲衝 0.3 m/s × 2 s，讓滾輪把球撈進去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撿完 (球確認在後車廂) 直接回到巡邏路徑，繼續往下一格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停止條件：球撿滿 / 走完路徑 / 出界 (真實座標)</a:t>
            </a:r>
          </a:p>
        </p:txBody>
      </p:sp>
      <p:pic>
        <p:nvPicPr>
          <p:cNvPr id="4" name="Picture 3" descr="run86_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3316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43434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圖：run86，藍=PATROL、紅=APPROACH，虛線=里程計以為的位置 (幾乎完全重疊)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格邊長怎麼決定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格邊長上限 = 2 × 0.8 × R × sin 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    – R = 相機能穩定辨識球的距離 = 3.0 m (視覺節點 55 px² 面積門檻的理論距離)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    – θ = 相機水平視角的一半 = 40° (視角 80°)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    – 0.8 = 安全係數：相鄰格子的視野重疊 20%，不漏球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    – → 上限 3.085 m；格數 = 場地邊長 ÷ 上限，無條件進位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開放場地 24 × 11 m：8 × 4 = 32 格 (每格 3.00 × 2.75 m)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有網子時每個半場 11.1 × 11 m：4 × 4 = 16 格 (每格 2.775 × 2.75 m)，兩個半場共 32 格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車走在格子中心線上，左右各看得到 0.8·R·sinθ = 1.54 m，蓋過半格 (1.5 m / 1.39 m)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文獻依據：格子大小 = 相機 footprint × (1 − 重疊率) — Cabreira et al. 2019 (Drones) §2.2、Galceran &amp; Carreras 2013 (RAS)；條帶間距與重疊率的計算法：Di Franco &amp; Buttazzo 2016 (JINT)；弓字形分格：Choset &amp; Pignon 1998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footprint 寬度 = 2·R·sinθ (水平前視相機、以辨識距離 R 為半徑)；重疊率 20% → 係數 0.8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里程計誤差消除：四個疊加的原因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1828800"/>
                <a:gridCol w="2377440"/>
                <a:gridCol w="2194560"/>
                <a:gridCol w="155448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原因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證據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修法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效果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dt 用真實時鐘，但模擬即時率 0.93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每次 run 的 (真實/模擬時間) 都等於 (里程計/真實距離)，如 1.103 vs 1.105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dt 改用 /joint_states 封包的模擬時間戳 (實體車：用編碼器封包時間戳)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距離比例 1.05 → 0.98，航向 11° → 3°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真實座標比錯點：里程計算的是輪軸中點，Gazebo 回報 base_link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實測兩點差 (0.08, −0.135) m，原地轉時假差 0.31 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真實座標換算到輪軸中點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距離比例 0.979 → 1.001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記錄時間差：兩個 timer 分開記，最多差 0.5 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車在動時看起來像誤差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真實座標一到就同步記錄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位置誤差 0.33 → 0.22 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陀螺儀 50 Hz 取樣不夠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ODE 每步角速度抖動 ±8%，50 Hz 矩形積分每轉一段隨機差 ±0.5°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IMU 1000 Hz、在 IMU callback 用封包時間戳積分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位置 0.026 m、航向 0.17°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修正後 (run74)：93.7 m 路徑，位置誤差平均 0.026 m / 最大 0.078 m，航向平均 0.17° / 最大 0.34°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里程計 修正前 vs 修正後</a:t>
            </a:r>
          </a:p>
        </p:txBody>
      </p:sp>
      <p:pic>
        <p:nvPicPr>
          <p:cNvPr id="3" name="Picture 2" descr="run69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297680" cy="2586104"/>
          </a:xfrm>
          <a:prstGeom prst="rect">
            <a:avLst/>
          </a:prstGeom>
        </p:spPr>
      </p:pic>
      <p:pic>
        <p:nvPicPr>
          <p:cNvPr id="4" name="Picture 3" descr="run74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05840"/>
            <a:ext cx="4297680" cy="2586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4348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左：run69 (修正前) 位置誤差平均 1.13 m / 最大 3.17 m / 航向 11.7°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44348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右：run74 (修正後) 平均 0.026 m / 最大 0.078 m / 航向 0.17°，虛線被實線蓋住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單變數驗證：把模擬即時率硬壓到 0.7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同一份程式、同一佈局，只把 Gazebo 物理更新率從 1000 降到 700 (即時率 0.700)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同一次 run 裡並排記錄兩條里程計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    – 新版 (封包時間戳 dt)：位置誤差平均 0.029 m / 最大 0.070 m，航向 0.15°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    – 舊版 (真實時鐘 dt)：路徑長 ×1.431 (=1/0.7)，位置誤差平均 18 m，航向 113°，直接飛出球場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結論：之前 7~10% 的距離與航向誤差主因就是 dt 來源，不是摩擦、碰撞或球的質量</a:t>
            </a:r>
          </a:p>
        </p:txBody>
      </p:sp>
      <p:pic>
        <p:nvPicPr>
          <p:cNvPr id="4" name="Picture 3" descr="run75_rt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297680" cy="2586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44805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run75：黑虛線 (新) 貼著實線；洋紅虛線 (舊) 出界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陀螺儀取樣率：模擬 50→1000 Hz 與現實 50 Hz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模擬裡發現：Gazebo IMU 讀值跟真實角速度逐筆完全一致 (零誤差、零延遲)，但物理引擎每 1 ms 一步算出的角速度本身抖動 ±8% (接觸求解雜訊)，姿態卻是平滑的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50 Hz 只取到 1/20 的步，用矩形法積分抖動訊號，每轉一段隨機差 ±0.2~0.5°；乘上 40 m 直線就是 0.5~0.9 m 的位置誤差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改成 1000 Hz (= 物理步) 後每一步都算到：直走 0.003°、原地轉 246° 只差 0.22°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這是模擬的數值雜訊；現實車體的角速度是連續平滑的，50 Hz 取樣不會有這種抖動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現實 50 Hz 真正要注意的：(1) 用 IMU 封包自己的時間戳積分、每筆剛好算一次；(2) 三軸都要積分 (車體傾斜時只積 z 軸會少算，模擬實測少 5%)；(3) 真實陀螺儀的偏移與雜訊，模擬還沒加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模擬用 1000 Hz 的目的：把積分誤差壓到只剩演算法本身，才能單獨驗證路徑與撿球邏輯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航向積分改三軸四元數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症狀：原地轉向 (ALIGN) 時偶爾一秒內少算 1~3° (實測真實轉 23°、z 軸積分只有 21.8°)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原因：車體一傾斜 (滾輪擦地、被撞)，世界座標的航向變化率 = ω_z·cosφ + ω_y·sinφ + …，只積 z 軸會少算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修法：三軸角速度做四元數積分 q ← q ⊗ exp(ω·dt/2)，再從 q 取 yaw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單元檢查：先傾斜 20° 再繞世界 z 轉 90°，只積 z 軸得 84.6°，四元數得 90.0°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效果：有網子的完整巡邏 (100 m 路徑) 航向誤差 5.3° → 0.1~0.6°，位置 1.1 m → 2~5 cm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實體車 BNO080 本來就是三軸，直接套用同一套積分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撿球機構整合：滾輪真的把球拋進後車廂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937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之前為了專心做路徑，撿球是「滾輪碰到球就把球消除」；現在改回物理撿球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關鍵是滾輪位置：5/21 影片能成功的設定 (5/13 筆記) 是滾輪在 x=0.2、z=0.03；後來改回 CAD 位置 (x=0.10) 後離後車廂 17.7 cm 前擋牆只剩 10 cm，球被推到牆邊只能垂直彈起、進不了車廂 (已跟設計組說明)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滾輪常轉，轉速掃描 (右表)：W=40~45 (62~70 rad/s) 在盲衝 0.2~0.4 m/s 全部進車廂；≥50 拋過頭飛出車尾；採用 W=42.5 (約 66 rad/s)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「撿到」判定改用真實座標：球躺在車廂地板高度 (z 0.05~0.15) 且連續 3 次都在車廂內；結束時稽核每顆球位置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77840" y="1005840"/>
          <a:ext cx="3246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40080"/>
                <a:gridCol w="685800"/>
                <a:gridCol w="68580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rad/s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v=0.2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v=0.3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v=0.4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進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未過牆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未過牆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進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進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進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進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進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進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飛出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飛出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飛出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飛出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飛出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video47_pi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880360"/>
            <a:ext cx="3246120" cy="4057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0" y="3931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5/21 影片：7.5 s 球到滾輪，7.75 s 飛過車廂前緣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物理撿球 + 巡邏：完整測試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2062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標準 9 顆球佈局：run76、run77 皆 9/9 進後車廂，結束稽核 9 顆全部躺在車廂地板 (一顆疊在第二層)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後車廂載球對里程計的影響 (實測)：位置誤差 0.026 → 0.056~0.078 m，航向 0.17° → 0.33~0.63°；在前 60 秒追球期間累積後持平，撿球瞬間本身沒有跳動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設計組：後車廂可放 20 顆；本次最多測 20 顆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注意：滾輪轉速 ≥ 90 rad/s 時球卡住會讓滾輪關節在物理引擎裡失控，轉速保持在 66 rad/s 附近</a:t>
            </a:r>
          </a:p>
        </p:txBody>
      </p:sp>
      <p:pic>
        <p:nvPicPr>
          <p:cNvPr id="4" name="Picture 3" descr="run77_pi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4760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43434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run77：9/9，位置誤差平均 0.078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場地改成開放式網球場 (無牆)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2062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現實場地是開放的：Gazebo 裡的牆只留半透明視覺當邊界，碰撞全部拿掉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「撞牆停止」改成「出界停止」：真實座標離開場地邊界外緣就停 (模擬才有的判定)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巡邏範圍改成整個 24 × 11 m 雙打場地 (不再內縮 1 m)，格數由格邊長公式算：8 × 4 = 32 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隨機 9 顆球 × 3 次 (run78~80)：3/3 皆 9/9，稽核全部在車廂</a:t>
            </a:r>
          </a:p>
        </p:txBody>
      </p:sp>
      <p:pic>
        <p:nvPicPr>
          <p:cNvPr id="4" name="Picture 3" descr="run80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4760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43434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run80：開放場地隨機佈局 9/9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真實網子：擋視線、不可通過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5720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ITF 規格：中央 0.914 m、網柱 1.07 m，網柱在雙打邊線外 0.914 m → 全長 12.8 m (網柱 y = ±6.4)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模擬：x=0 處 1 m 高的深灰實心板 + 兩根網柱，有碰撞；從 15 cm 高的相機看過去完全擋住另一半場 (對應 YOLO 隔網辨識不可靠)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路徑：Choset boustrophedon cellular decomposition 的最簡單特例——網子把場地切成兩個矩形，各自走弓字 (每半場 4 × 4 格，從離網 0.9 m 起)，第一半場走完繞網柱外側 (y=±7.5) 到第二半場靠網的角落接上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追球時的網子保護：車體中心離網 &lt; 0.763 m (車身 0.5 m + 車頭 0.263 m) 又朝向網子就放棄這顆球，5 秒不理視覺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隨機 9 顆球 (離網 ≥ 1 m) × 3 次 (run85~87)：3/3 皆 9/9，稽核全在車廂，零次觸發放棄；位置誤差 2~5 cm、航向 ≤ 0.6°</a:t>
            </a:r>
          </a:p>
        </p:txBody>
      </p:sp>
      <p:pic>
        <p:nvPicPr>
          <p:cNvPr id="4" name="Picture 3" descr="run86_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05840"/>
            <a:ext cx="3749039" cy="30220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41148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run86：兩個半場 + 繞網柱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實驗數據：隨機 10 / 15 / 20 顆球 × 5 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1280160"/>
                <a:gridCol w="1005840"/>
                <a:gridCol w="1097280"/>
                <a:gridCol w="1280160"/>
                <a:gridCol w="91440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球數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成功次數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平均撿完時間 (s)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平均每顆 (s)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平均路徑 (m)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位置誤差平均 (m)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最終偏移 (m)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航向誤差平均 (°)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5/5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368.7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36.9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110.1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0.093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0.107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0.61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4/5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469.9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31.3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142.7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0.072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0.08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0.39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1/5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492.3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24.6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142.7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0.227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0.806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0.97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651760"/>
          <a:ext cx="402336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2651760"/>
          <a:ext cx="402336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撿完時間 = 最後一顆球進車廂的時刻；成功 = 全部撿進後車廂 (結束時用 Gazebo 真實座標稽核)；里程計誤差 = 輪速+陀螺儀推算位置 vs Gazebo 真實位置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每次 run 明細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786384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31520"/>
                <a:gridCol w="640080"/>
                <a:gridCol w="1005840"/>
                <a:gridCol w="822960"/>
                <a:gridCol w="1737360"/>
                <a:gridCol w="914400"/>
                <a:gridCol w="1463040"/>
              </a:tblGrid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球數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撿到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撿完時間 (s)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路徑 (m)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位置誤差 平均/最大 (m)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最終偏移 (m)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航向 平均/最大 (°)</a:t>
                      </a:r>
                    </a:p>
                  </a:txBody>
                  <a:tcPr marL="36576" marR="36576" marT="18288" marB="18288" anchor="ctr">
                    <a:solidFill>
                      <a:srgbClr val="EEEEE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run88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379.1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117.8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0.111 / 0.216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0.053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0.79 / 1.09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run89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327.5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96.5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0.089 / 0.196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0.157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0.52 / 0.8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run90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396.4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120.1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0.065 / 0.133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0.097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0.47 / 0.69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run91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363.2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106.9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0.11 / 0.234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0.165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0.67 / 0.81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run92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377.3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109.3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0.09 / 0.194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0.063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0.61 / 0.8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run103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14/15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518.4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157.3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0.137 / 0.308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0.107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0.87 / 1.33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run104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15/15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488.0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144.5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0.066 / 0.124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0.094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0.37 / 0.63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run105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15/15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477.9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137.2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0.088 / 0.167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0.158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0.41 / 0.63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run106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15/15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444.9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130.0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0.047 / 0.085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0.22 / 0.57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run107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15/15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468.7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144.7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0.02 / 0.051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0.034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0.08 / 0.23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run108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8/20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265.8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62.8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0.106 / 3.065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3.065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0.35 / 2.64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run109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19/20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581.0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170.9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0.846 / 1.447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0.773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3.17 / 4.01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run110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19/20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577.6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172.1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0.022 / 0.095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0.052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0.21 / 0.52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run111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19/20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550.2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165.9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0.121 / 0.264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0.086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0.9 / 1.21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run112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20/20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492.3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141.8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0.04 / 0.087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0.053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0.2 / 0.34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實驗數據觀察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10 顆：5/5 全撿滿，平均 369 s (每顆 37 s)；15 顆：4/5，平均 470 s (每顆 31 s)；20 顆：1/5，撿滿那次 492 s (每顆 25 s)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球越多、每顆平均時間越短：巡邏路徑固定 (兩個半場 32 格)，球多時追球距離短、巡邏空跑的比例低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里程計：13/15 次位置誤差平均 &lt; 0.15 m、最終偏移 &lt; 0.2 m、航向 &lt; 1°，跟 9 顆的結果一致，載 15~20 顆球沒有讓里程計變差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失敗模式 (誠實列出)：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    – run103 (14/15)、run109 (19/20)：稽核發現漏掉的那顆球在場外 36 m / 289 m 遠——球被滾輪或車廂內的球碰撞後高速彈飛 (物理模擬的問題，現實不會)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    – run110、run111 (19/20)：各漏 1 顆在場內 (x=-7.3 / x=+1.6)，原因未逐一分析 (run110 有 2 次靠網放棄追球)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    – run108 (8/20)：t=227 s 時 /joint_states 訂閱斷掉、里程計凍結，車直線出界；同樣症狀之前出現過，跟 Gazebo/DDS 負載有關 (每 tick 對每顆球查一次位置時 15 顆就必發生，改成輪流查一顆後 10 次只剩這 1 次)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20 顆的「最終偏移 0.8 m」平均是被 run108 的 3.07 m 拉高的，其餘 4 次都 &lt; 0.8 m、3 次 &lt; 0.1 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已知限制與後續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模擬與實體的差異：陀螺儀還是理想 sensor (沒有偏移、雜訊)；滾輪模型位置與 CAD 不同 (設計組已知)；前車體無碰撞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實體車要對應的三件事：編碼器 / IMU 封包時間戳、三軸陀螺儀四元數積分、滾輪轉速約 66 rad/s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格邊長公式的文獻出處待補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後續：加入陀螺儀偏移 / 雜訊模型驗證現實可行性；多顆球載重下的行為；與實體車比對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未來工作：把模擬的對準 PID 搬到實體車</a:t>
            </a:r>
          </a:p>
        </p:txBody>
      </p:sp>
      <p:pic>
        <p:nvPicPr>
          <p:cNvPr id="3" name="Picture 2" descr="future_a_st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4206240" cy="2366010"/>
          </a:xfrm>
          <a:prstGeom prst="rect">
            <a:avLst/>
          </a:prstGeom>
        </p:spPr>
      </p:pic>
      <p:pic>
        <p:nvPicPr>
          <p:cNvPr id="4" name="Picture 3" descr="future_b_diver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60120"/>
            <a:ext cx="4206240" cy="2366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29000"/>
            <a:ext cx="8412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現況 (B 同學的實體車做法，圖 a)：每次只轉 5° 就停 1 秒等相機更新再判斷，階梯式收斂，35° 要 8 秒以上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風險 (圖 b)：直接套模擬的增益、不管深度相機更新延遲，會轉過頭、來回擺盪甚至發散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目標：模擬用的對準 P / 接近 PID 同一套程式直接上實體車，只調參數 (Kp、Kd、角速度上限、取樣週期) 去吸收深度相機的更新延遲，得到穩定收斂的 step response (灰虛線)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為什麼是 step response：對準時車是靜止只轉向，球角度從 ±40° 一步到 0° 就是標準的階躍響應，可以直接量上升時間、超調、穩定時間來比較參數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兩張圖為示意 (相機延遲設 0.4 s)，不是量測數據；x 軸時間、y 軸球相對車體中心的夾角 ±40°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